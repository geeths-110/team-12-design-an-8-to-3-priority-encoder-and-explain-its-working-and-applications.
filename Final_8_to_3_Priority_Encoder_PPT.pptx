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66928"/>
            <a:ext cx="2240280" cy="310896"/>
          </a:xfrm>
          <a:prstGeom prst="roundRect">
            <a:avLst/>
          </a:prstGeom>
          <a:solidFill>
            <a:srgbClr val="2ADAE2"/>
          </a:solidFill>
          <a:ln>
            <a:solidFill>
              <a:srgbClr val="2A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2376" y="571500"/>
            <a:ext cx="2167128" cy="2926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A1226"/>
                </a:solidFill>
                <a:latin typeface="Aptos"/>
              </a:rPr>
              <a:t>DIGITAL LOGIC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6766560" cy="1325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F5F8FF"/>
                </a:solidFill>
                <a:latin typeface="Aptos"/>
              </a:rPr>
              <a:t>8-to-3 Priority
Encoder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6675120" cy="4114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2ADAE2"/>
                </a:solidFill>
                <a:latin typeface="Aptos"/>
              </a:rPr>
              <a:t>Theory • Logic Circuit • Logisim Simulation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29000"/>
            <a:ext cx="6583680" cy="2148840"/>
          </a:xfrm>
          <a:prstGeom prst="roundRect">
            <a:avLst/>
          </a:prstGeom>
          <a:solidFill>
            <a:srgbClr val="121F3B"/>
          </a:solidFill>
          <a:ln>
            <a:solidFill>
              <a:srgbClr val="12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566160"/>
            <a:ext cx="6126480" cy="3200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C352"/>
                </a:solidFill>
                <a:latin typeface="Aptos"/>
              </a:rPr>
              <a:t>TEAM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931920"/>
            <a:ext cx="6172200" cy="14173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R. Geethika Chowdary  |  2620040043
Kanamata Srikari  |  2620030701
Ganugapati Venkata Sushanth Sri Ram  |  2620040012
Bikkina Karunakar  |  2620040038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828800"/>
            <a:ext cx="3566160" cy="4572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ADAE2"/>
                </a:solidFill>
                <a:latin typeface="Aptos"/>
              </a:rPr>
              <a:t>8 INPUTS  →  3 OUTPUTS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560320"/>
            <a:ext cx="685800" cy="228600"/>
          </a:xfrm>
          <a:prstGeom prst="roundRect">
            <a:avLst/>
          </a:prstGeom>
          <a:solidFill>
            <a:srgbClr val="192A48"/>
          </a:solidFill>
          <a:ln>
            <a:solidFill>
              <a:srgbClr val="2A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81544" y="2560320"/>
            <a:ext cx="667512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D7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58200" y="2670048"/>
            <a:ext cx="685800" cy="0"/>
          </a:xfrm>
          <a:prstGeom prst="line">
            <a:avLst/>
          </a:prstGeom>
          <a:ln w="12700">
            <a:solidFill>
              <a:srgbClr val="2A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2907791"/>
            <a:ext cx="685800" cy="228600"/>
          </a:xfrm>
          <a:prstGeom prst="roundRect">
            <a:avLst/>
          </a:prstGeom>
          <a:solidFill>
            <a:srgbClr val="192A48"/>
          </a:solidFill>
          <a:ln>
            <a:solidFill>
              <a:srgbClr val="2A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81544" y="2907791"/>
            <a:ext cx="667512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D6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58200" y="3017520"/>
            <a:ext cx="685800" cy="0"/>
          </a:xfrm>
          <a:prstGeom prst="line">
            <a:avLst/>
          </a:prstGeom>
          <a:ln w="12700">
            <a:solidFill>
              <a:srgbClr val="2A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3255263"/>
            <a:ext cx="685800" cy="228600"/>
          </a:xfrm>
          <a:prstGeom prst="roundRect">
            <a:avLst/>
          </a:prstGeom>
          <a:solidFill>
            <a:srgbClr val="192A48"/>
          </a:solidFill>
          <a:ln>
            <a:solidFill>
              <a:srgbClr val="2A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81544" y="3255263"/>
            <a:ext cx="667512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D5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58200" y="3364991"/>
            <a:ext cx="685800" cy="0"/>
          </a:xfrm>
          <a:prstGeom prst="line">
            <a:avLst/>
          </a:prstGeom>
          <a:ln w="12700">
            <a:solidFill>
              <a:srgbClr val="2A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602736"/>
            <a:ext cx="685800" cy="228600"/>
          </a:xfrm>
          <a:prstGeom prst="roundRect">
            <a:avLst/>
          </a:prstGeom>
          <a:solidFill>
            <a:srgbClr val="192A48"/>
          </a:solidFill>
          <a:ln>
            <a:solidFill>
              <a:srgbClr val="2A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81544" y="3602736"/>
            <a:ext cx="667512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D4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58200" y="3712463"/>
            <a:ext cx="685800" cy="0"/>
          </a:xfrm>
          <a:prstGeom prst="line">
            <a:avLst/>
          </a:prstGeom>
          <a:ln w="12700">
            <a:solidFill>
              <a:srgbClr val="2A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950208"/>
            <a:ext cx="685800" cy="228600"/>
          </a:xfrm>
          <a:prstGeom prst="roundRect">
            <a:avLst/>
          </a:prstGeom>
          <a:solidFill>
            <a:srgbClr val="192A48"/>
          </a:solidFill>
          <a:ln>
            <a:solidFill>
              <a:srgbClr val="2A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81544" y="3950208"/>
            <a:ext cx="667512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D3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458200" y="4059936"/>
            <a:ext cx="685800" cy="0"/>
          </a:xfrm>
          <a:prstGeom prst="line">
            <a:avLst/>
          </a:prstGeom>
          <a:ln w="12700">
            <a:solidFill>
              <a:srgbClr val="2A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297679"/>
            <a:ext cx="685800" cy="228600"/>
          </a:xfrm>
          <a:prstGeom prst="roundRect">
            <a:avLst/>
          </a:prstGeom>
          <a:solidFill>
            <a:srgbClr val="192A48"/>
          </a:solidFill>
          <a:ln>
            <a:solidFill>
              <a:srgbClr val="2A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81544" y="4297679"/>
            <a:ext cx="667512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D2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58200" y="4407407"/>
            <a:ext cx="685800" cy="0"/>
          </a:xfrm>
          <a:prstGeom prst="line">
            <a:avLst/>
          </a:prstGeom>
          <a:ln w="12700">
            <a:solidFill>
              <a:srgbClr val="2A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772400" y="4645152"/>
            <a:ext cx="685800" cy="228600"/>
          </a:xfrm>
          <a:prstGeom prst="roundRect">
            <a:avLst/>
          </a:prstGeom>
          <a:solidFill>
            <a:srgbClr val="192A48"/>
          </a:solidFill>
          <a:ln>
            <a:solidFill>
              <a:srgbClr val="2A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81544" y="4645152"/>
            <a:ext cx="667512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D1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58200" y="4754880"/>
            <a:ext cx="685800" cy="0"/>
          </a:xfrm>
          <a:prstGeom prst="line">
            <a:avLst/>
          </a:prstGeom>
          <a:ln w="12700">
            <a:solidFill>
              <a:srgbClr val="2A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772400" y="4992624"/>
            <a:ext cx="685800" cy="228600"/>
          </a:xfrm>
          <a:prstGeom prst="roundRect">
            <a:avLst/>
          </a:prstGeom>
          <a:solidFill>
            <a:srgbClr val="192A48"/>
          </a:solidFill>
          <a:ln>
            <a:solidFill>
              <a:srgbClr val="2A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81544" y="4992624"/>
            <a:ext cx="667512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D0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458200" y="5102352"/>
            <a:ext cx="685800" cy="0"/>
          </a:xfrm>
          <a:prstGeom prst="line">
            <a:avLst/>
          </a:prstGeom>
          <a:ln w="12700">
            <a:solidFill>
              <a:srgbClr val="2A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144000" y="3246120"/>
            <a:ext cx="1280160" cy="731520"/>
          </a:xfrm>
          <a:prstGeom prst="roundRect">
            <a:avLst/>
          </a:prstGeom>
          <a:solidFill>
            <a:srgbClr val="5284FF"/>
          </a:solidFill>
          <a:ln>
            <a:solidFill>
              <a:srgbClr val="52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3310128"/>
            <a:ext cx="1188720" cy="56692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5F8FF"/>
                </a:solidFill>
                <a:latin typeface="Aptos"/>
              </a:rPr>
              <a:t>ENCODER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424160" y="3611880"/>
            <a:ext cx="411480" cy="0"/>
          </a:xfrm>
          <a:prstGeom prst="line">
            <a:avLst/>
          </a:prstGeom>
          <a:ln w="25400">
            <a:solidFill>
              <a:srgbClr val="2A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835640" y="3218688"/>
            <a:ext cx="731520" cy="8229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54E0A4"/>
                </a:solidFill>
                <a:latin typeface="Aptos"/>
              </a:rPr>
              <a:t>Y₂
Y₁
Y₀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806440"/>
            <a:ext cx="3474720" cy="3200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/>
            <a:r>
              <a:rPr sz="1200" b="1">
                <a:solidFill>
                  <a:srgbClr val="AEBED8"/>
                </a:solidFill>
                <a:latin typeface="Aptos"/>
              </a:rPr>
              <a:t>Section: __________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263640"/>
            <a:ext cx="7315200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AEBED8"/>
                </a:solidFill>
                <a:latin typeface="Aptos"/>
              </a:rPr>
              <a:t>Prepared for Digital Logic Design project presentation</a:t>
            </a:r>
          </a:p>
        </p:txBody>
      </p:sp>
    </p:spTree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12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24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36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48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60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72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84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9144000" cy="25603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ADAE2"/>
                </a:solidFill>
                <a:latin typeface="Aptos"/>
              </a:rPr>
              <a:t>01 • INTRODUCTION AND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064240" cy="56692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What is an 8-to-3 Priority Encoder?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15568"/>
            <a:ext cx="11155680" cy="0"/>
          </a:xfrm>
          <a:prstGeom prst="line">
            <a:avLst/>
          </a:prstGeom>
          <a:ln w="15240">
            <a:solidFill>
              <a:srgbClr val="528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AEBED8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120640" cy="4526280"/>
          </a:xfrm>
          <a:prstGeom prst="roundRect">
            <a:avLst/>
          </a:prstGeom>
          <a:solidFill>
            <a:srgbClr val="121F3B"/>
          </a:solidFill>
          <a:ln>
            <a:solidFill>
              <a:srgbClr val="12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38912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2ADAE2"/>
                </a:solidFill>
                <a:latin typeface="Aptos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389120" cy="10972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5F8FF"/>
                </a:solidFill>
                <a:latin typeface="Aptos"/>
              </a:rPr>
              <a:t>A priority encoder converts 8 input lines into a 3-bit binary output.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4434840" cy="12344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AEBED8"/>
                </a:solidFill>
                <a:latin typeface="Aptos"/>
              </a:rPr>
              <a:t>If several inputs are HIGH, it selects only the highest-priority active input.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166360"/>
            <a:ext cx="3246120" cy="310896"/>
          </a:xfrm>
          <a:prstGeom prst="roundRect">
            <a:avLst/>
          </a:prstGeom>
          <a:solidFill>
            <a:srgbClr val="FFC352"/>
          </a:solidFill>
          <a:ln>
            <a:solidFill>
              <a:srgbClr val="FFC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170932"/>
            <a:ext cx="3172968" cy="2926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A1226"/>
                </a:solidFill>
                <a:latin typeface="Aptos"/>
              </a:rPr>
              <a:t>D₇ HIGHEST  •  D₀ LOWEST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417320"/>
            <a:ext cx="5440680" cy="4526280"/>
          </a:xfrm>
          <a:prstGeom prst="roundRect">
            <a:avLst/>
          </a:prstGeom>
          <a:solidFill>
            <a:srgbClr val="112A44"/>
          </a:solidFill>
          <a:ln>
            <a:solidFill>
              <a:srgbClr val="11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691640"/>
            <a:ext cx="475488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FFC352"/>
                </a:solidFill>
                <a:latin typeface="Aptos"/>
              </a:rPr>
              <a:t>OBJECTIVES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331720"/>
            <a:ext cx="384048" cy="384048"/>
          </a:xfrm>
          <a:prstGeom prst="roundRect">
            <a:avLst/>
          </a:prstGeom>
          <a:solidFill>
            <a:srgbClr val="5284FF"/>
          </a:solidFill>
          <a:ln>
            <a:solidFill>
              <a:srgbClr val="52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331720"/>
            <a:ext cx="384048" cy="38404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286000"/>
            <a:ext cx="3931920" cy="4754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Understand priority selection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200400"/>
            <a:ext cx="384048" cy="384048"/>
          </a:xfrm>
          <a:prstGeom prst="roundRect">
            <a:avLst/>
          </a:prstGeom>
          <a:solidFill>
            <a:srgbClr val="5284FF"/>
          </a:solidFill>
          <a:ln>
            <a:solidFill>
              <a:srgbClr val="52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200400"/>
            <a:ext cx="384048" cy="38404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154680"/>
            <a:ext cx="3931920" cy="4754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Convert the selected input to binary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069079"/>
            <a:ext cx="384048" cy="384048"/>
          </a:xfrm>
          <a:prstGeom prst="roundRect">
            <a:avLst/>
          </a:prstGeom>
          <a:solidFill>
            <a:srgbClr val="5284FF"/>
          </a:solidFill>
          <a:ln>
            <a:solidFill>
              <a:srgbClr val="52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069079"/>
            <a:ext cx="384048" cy="38404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4023360"/>
            <a:ext cx="3931920" cy="4754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Design and test the circuit in Logisim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257800"/>
            <a:ext cx="4572000" cy="3200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ADAE2"/>
                </a:solidFill>
                <a:latin typeface="Aptos"/>
              </a:rPr>
              <a:t>Key idea: the highest active input wins.</a:t>
            </a:r>
          </a:p>
        </p:txBody>
      </p:sp>
    </p:spTree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12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24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36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48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60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72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84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9144000" cy="25603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ADAE2"/>
                </a:solidFill>
                <a:latin typeface="Aptos"/>
              </a:rPr>
              <a:t>02 • THEORY AND LOGIC CIRCUIT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064240" cy="56692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Priority rule and logic gates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15568"/>
            <a:ext cx="11155680" cy="0"/>
          </a:xfrm>
          <a:prstGeom prst="line">
            <a:avLst/>
          </a:prstGeom>
          <a:ln w="15240">
            <a:solidFill>
              <a:srgbClr val="528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AEBED8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4297680" cy="4526280"/>
          </a:xfrm>
          <a:prstGeom prst="roundRect">
            <a:avLst/>
          </a:prstGeom>
          <a:solidFill>
            <a:srgbClr val="121F3B"/>
          </a:solidFill>
          <a:ln>
            <a:solidFill>
              <a:srgbClr val="12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657600" cy="3200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ADAE2"/>
                </a:solidFill>
                <a:latin typeface="Aptos"/>
              </a:rPr>
              <a:t>WORKING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3657600" cy="7315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F5F8FF"/>
                </a:solidFill>
                <a:latin typeface="Aptos"/>
              </a:rPr>
              <a:t>The highest active input wins.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3657600" cy="10515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AEBED8"/>
                </a:solidFill>
                <a:latin typeface="Aptos"/>
              </a:rPr>
              <a:t>Example: D₆ = 1 and D₃ = 1. D₆ wins because it has higher priority.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3657600" cy="5029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54E0A4"/>
                </a:solidFill>
                <a:latin typeface="Aptos"/>
              </a:rPr>
              <a:t>Output = 110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3657600" cy="5943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AEBED8"/>
                </a:solidFill>
                <a:latin typeface="Aptos"/>
              </a:rPr>
              <a:t>NOT • AND • OR gates implement priority masking and binary encoding.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417320"/>
            <a:ext cx="6263640" cy="4526280"/>
          </a:xfrm>
          <a:prstGeom prst="roundRect">
            <a:avLst/>
          </a:prstGeom>
          <a:solidFill>
            <a:srgbClr val="112A44"/>
          </a:solidFill>
          <a:ln>
            <a:solidFill>
              <a:srgbClr val="11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664208"/>
            <a:ext cx="5669280" cy="3200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2ADAE2"/>
                </a:solidFill>
                <a:latin typeface="Aptos"/>
              </a:rPr>
              <a:t>FUNCTIONAL CIRCUIT BLOCK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2212848"/>
            <a:ext cx="594360" cy="246888"/>
          </a:xfrm>
          <a:prstGeom prst="roundRect">
            <a:avLst/>
          </a:prstGeom>
          <a:solidFill>
            <a:srgbClr val="192A48"/>
          </a:solidFill>
          <a:ln>
            <a:solidFill>
              <a:srgbClr val="2A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2212848"/>
            <a:ext cx="594360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D7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72200" y="2331720"/>
            <a:ext cx="822960" cy="0"/>
          </a:xfrm>
          <a:prstGeom prst="line">
            <a:avLst/>
          </a:prstGeom>
          <a:ln w="12700">
            <a:solidFill>
              <a:srgbClr val="AEB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577840" y="2560320"/>
            <a:ext cx="594360" cy="246888"/>
          </a:xfrm>
          <a:prstGeom prst="roundRect">
            <a:avLst/>
          </a:prstGeom>
          <a:solidFill>
            <a:srgbClr val="192A48"/>
          </a:solidFill>
          <a:ln>
            <a:solidFill>
              <a:srgbClr val="2A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2560320"/>
            <a:ext cx="594360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D6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72200" y="2679191"/>
            <a:ext cx="822960" cy="0"/>
          </a:xfrm>
          <a:prstGeom prst="line">
            <a:avLst/>
          </a:prstGeom>
          <a:ln w="12700">
            <a:solidFill>
              <a:srgbClr val="AEB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577840" y="2907791"/>
            <a:ext cx="594360" cy="246888"/>
          </a:xfrm>
          <a:prstGeom prst="roundRect">
            <a:avLst/>
          </a:prstGeom>
          <a:solidFill>
            <a:srgbClr val="192A48"/>
          </a:solidFill>
          <a:ln>
            <a:solidFill>
              <a:srgbClr val="2A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2907791"/>
            <a:ext cx="594360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D5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72200" y="3026663"/>
            <a:ext cx="822960" cy="0"/>
          </a:xfrm>
          <a:prstGeom prst="line">
            <a:avLst/>
          </a:prstGeom>
          <a:ln w="12700">
            <a:solidFill>
              <a:srgbClr val="AEB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577840" y="3255264"/>
            <a:ext cx="594360" cy="246888"/>
          </a:xfrm>
          <a:prstGeom prst="roundRect">
            <a:avLst/>
          </a:prstGeom>
          <a:solidFill>
            <a:srgbClr val="192A48"/>
          </a:solidFill>
          <a:ln>
            <a:solidFill>
              <a:srgbClr val="2A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77840" y="3255264"/>
            <a:ext cx="594360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D4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72200" y="3374136"/>
            <a:ext cx="822960" cy="0"/>
          </a:xfrm>
          <a:prstGeom prst="line">
            <a:avLst/>
          </a:prstGeom>
          <a:ln w="12700">
            <a:solidFill>
              <a:srgbClr val="AEB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577840" y="3602736"/>
            <a:ext cx="594360" cy="246888"/>
          </a:xfrm>
          <a:prstGeom prst="roundRect">
            <a:avLst/>
          </a:prstGeom>
          <a:solidFill>
            <a:srgbClr val="192A48"/>
          </a:solidFill>
          <a:ln>
            <a:solidFill>
              <a:srgbClr val="2A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0" y="3602736"/>
            <a:ext cx="594360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D3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172200" y="3721608"/>
            <a:ext cx="822960" cy="0"/>
          </a:xfrm>
          <a:prstGeom prst="line">
            <a:avLst/>
          </a:prstGeom>
          <a:ln w="12700">
            <a:solidFill>
              <a:srgbClr val="AEB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577840" y="3950208"/>
            <a:ext cx="594360" cy="246888"/>
          </a:xfrm>
          <a:prstGeom prst="roundRect">
            <a:avLst/>
          </a:prstGeom>
          <a:solidFill>
            <a:srgbClr val="192A48"/>
          </a:solidFill>
          <a:ln>
            <a:solidFill>
              <a:srgbClr val="2A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7840" y="3950208"/>
            <a:ext cx="594360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D2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72200" y="4069080"/>
            <a:ext cx="822960" cy="0"/>
          </a:xfrm>
          <a:prstGeom prst="line">
            <a:avLst/>
          </a:prstGeom>
          <a:ln w="12700">
            <a:solidFill>
              <a:srgbClr val="AEB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577840" y="4297680"/>
            <a:ext cx="594360" cy="246888"/>
          </a:xfrm>
          <a:prstGeom prst="roundRect">
            <a:avLst/>
          </a:prstGeom>
          <a:solidFill>
            <a:srgbClr val="192A48"/>
          </a:solidFill>
          <a:ln>
            <a:solidFill>
              <a:srgbClr val="2A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0" y="4297680"/>
            <a:ext cx="594360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D1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72200" y="4416552"/>
            <a:ext cx="822960" cy="0"/>
          </a:xfrm>
          <a:prstGeom prst="line">
            <a:avLst/>
          </a:prstGeom>
          <a:ln w="12700">
            <a:solidFill>
              <a:srgbClr val="AEB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577840" y="4645152"/>
            <a:ext cx="594360" cy="246888"/>
          </a:xfrm>
          <a:prstGeom prst="roundRect">
            <a:avLst/>
          </a:prstGeom>
          <a:solidFill>
            <a:srgbClr val="192A48"/>
          </a:solidFill>
          <a:ln>
            <a:solidFill>
              <a:srgbClr val="2A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77840" y="4645152"/>
            <a:ext cx="594360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D0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172200" y="4764024"/>
            <a:ext cx="822960" cy="0"/>
          </a:xfrm>
          <a:prstGeom prst="line">
            <a:avLst/>
          </a:prstGeom>
          <a:ln w="12700">
            <a:solidFill>
              <a:srgbClr val="AEB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995160" y="2788920"/>
            <a:ext cx="1508760" cy="914400"/>
          </a:xfrm>
          <a:prstGeom prst="roundRect">
            <a:avLst/>
          </a:prstGeom>
          <a:solidFill>
            <a:srgbClr val="5284FF"/>
          </a:solidFill>
          <a:ln>
            <a:solidFill>
              <a:srgbClr val="52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59168" y="2880360"/>
            <a:ext cx="1371600" cy="7315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5F8FF"/>
                </a:solidFill>
                <a:latin typeface="Aptos"/>
              </a:rPr>
              <a:t>PRIORITY
MASKING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503920" y="3246120"/>
            <a:ext cx="640080" cy="0"/>
          </a:xfrm>
          <a:prstGeom prst="line">
            <a:avLst/>
          </a:prstGeom>
          <a:ln w="25400">
            <a:solidFill>
              <a:srgbClr val="2A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144000" y="2514600"/>
            <a:ext cx="1463040" cy="1508760"/>
          </a:xfrm>
          <a:prstGeom prst="roundRect">
            <a:avLst/>
          </a:prstGeom>
          <a:solidFill>
            <a:srgbClr val="123A49"/>
          </a:solidFill>
          <a:ln>
            <a:solidFill>
              <a:srgbClr val="2A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2651760"/>
            <a:ext cx="1280160" cy="11887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2ADAE2"/>
                </a:solidFill>
                <a:latin typeface="Aptos"/>
              </a:rPr>
              <a:t>Y₂
Y₁
Y₀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0" y="4983480"/>
            <a:ext cx="5212080" cy="5029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8 input lines → priority logic → 3-bit output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77840" y="5532120"/>
            <a:ext cx="5303520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AEBED8"/>
                </a:solidFill>
                <a:latin typeface="Aptos"/>
              </a:rPr>
              <a:t>Simplified functional diagram; gate-level wiring is built in Logisim.</a:t>
            </a:r>
          </a:p>
        </p:txBody>
      </p:sp>
    </p:spTree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12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24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36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48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60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72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84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9144000" cy="25603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ADAE2"/>
                </a:solidFill>
                <a:latin typeface="Aptos"/>
              </a:rPr>
              <a:t>03 • CIRCUIT DESIGN IN LOGISIM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064240" cy="56692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Build and test the circuit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15568"/>
            <a:ext cx="11155680" cy="0"/>
          </a:xfrm>
          <a:prstGeom prst="line">
            <a:avLst/>
          </a:prstGeom>
          <a:ln w="15240">
            <a:solidFill>
              <a:srgbClr val="528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AEBED8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4114800" cy="4526280"/>
          </a:xfrm>
          <a:prstGeom prst="roundRect">
            <a:avLst/>
          </a:prstGeom>
          <a:solidFill>
            <a:srgbClr val="121F3B"/>
          </a:solidFill>
          <a:ln>
            <a:solidFill>
              <a:srgbClr val="12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474720" cy="3200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ADAE2"/>
                </a:solidFill>
                <a:latin typeface="Aptos"/>
              </a:rPr>
              <a:t>IMPLEMENTATION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48840"/>
            <a:ext cx="384048" cy="384048"/>
          </a:xfrm>
          <a:prstGeom prst="roundRect">
            <a:avLst/>
          </a:prstGeom>
          <a:solidFill>
            <a:srgbClr val="5284FF"/>
          </a:solidFill>
          <a:ln>
            <a:solidFill>
              <a:srgbClr val="52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384048" cy="38404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5F8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21408"/>
            <a:ext cx="2926080" cy="4572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Place 8 input pins D₀–D₇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843784"/>
            <a:ext cx="384048" cy="384048"/>
          </a:xfrm>
          <a:prstGeom prst="roundRect">
            <a:avLst/>
          </a:prstGeom>
          <a:solidFill>
            <a:srgbClr val="5284FF"/>
          </a:solidFill>
          <a:ln>
            <a:solidFill>
              <a:srgbClr val="52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43784"/>
            <a:ext cx="384048" cy="38404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5F8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816352"/>
            <a:ext cx="2926080" cy="4572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Add NOT, AND and OR gates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538728"/>
            <a:ext cx="384048" cy="384048"/>
          </a:xfrm>
          <a:prstGeom prst="roundRect">
            <a:avLst/>
          </a:prstGeom>
          <a:solidFill>
            <a:srgbClr val="5284FF"/>
          </a:solidFill>
          <a:ln>
            <a:solidFill>
              <a:srgbClr val="52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38728"/>
            <a:ext cx="384048" cy="38404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5F8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511296"/>
            <a:ext cx="2926080" cy="4572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Connect priority masking logic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233672"/>
            <a:ext cx="384048" cy="384048"/>
          </a:xfrm>
          <a:prstGeom prst="roundRect">
            <a:avLst/>
          </a:prstGeom>
          <a:solidFill>
            <a:srgbClr val="5284FF"/>
          </a:solidFill>
          <a:ln>
            <a:solidFill>
              <a:srgbClr val="52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33672"/>
            <a:ext cx="384048" cy="38404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5F8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06240"/>
            <a:ext cx="2926080" cy="4572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Add output pins Y₂, Y₁, Y₀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928616"/>
            <a:ext cx="384048" cy="384048"/>
          </a:xfrm>
          <a:prstGeom prst="roundRect">
            <a:avLst/>
          </a:prstGeom>
          <a:solidFill>
            <a:srgbClr val="5284FF"/>
          </a:solidFill>
          <a:ln>
            <a:solidFill>
              <a:srgbClr val="52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928616"/>
            <a:ext cx="384048" cy="38404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5F8F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901184"/>
            <a:ext cx="2926080" cy="4572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Use the pin tool to test inputs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1417320"/>
            <a:ext cx="6446520" cy="4526280"/>
          </a:xfrm>
          <a:prstGeom prst="roundRect">
            <a:avLst/>
          </a:prstGeom>
          <a:solidFill>
            <a:srgbClr val="112A44"/>
          </a:solidFill>
          <a:ln>
            <a:solidFill>
              <a:srgbClr val="2A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645920"/>
            <a:ext cx="5852160" cy="3200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C352"/>
                </a:solidFill>
                <a:latin typeface="Aptos"/>
              </a:rPr>
              <a:t>LOGISIM CIRCUIT LAYOUT GUIDE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40680" y="2148840"/>
            <a:ext cx="502920" cy="228600"/>
          </a:xfrm>
          <a:prstGeom prst="roundRect">
            <a:avLst/>
          </a:prstGeom>
          <a:solidFill>
            <a:srgbClr val="192A48"/>
          </a:solidFill>
          <a:ln>
            <a:solidFill>
              <a:srgbClr val="2A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40680" y="2148840"/>
            <a:ext cx="502920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5F8FF"/>
                </a:solidFill>
                <a:latin typeface="Aptos"/>
              </a:rPr>
              <a:t>D7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0" y="2258568"/>
            <a:ext cx="594360" cy="0"/>
          </a:xfrm>
          <a:prstGeom prst="line">
            <a:avLst/>
          </a:prstGeom>
          <a:ln w="12700">
            <a:solidFill>
              <a:srgbClr val="2A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440680" y="2487168"/>
            <a:ext cx="502920" cy="228600"/>
          </a:xfrm>
          <a:prstGeom prst="roundRect">
            <a:avLst/>
          </a:prstGeom>
          <a:solidFill>
            <a:srgbClr val="192A48"/>
          </a:solidFill>
          <a:ln>
            <a:solidFill>
              <a:srgbClr val="2A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40680" y="2487168"/>
            <a:ext cx="502920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5F8FF"/>
                </a:solidFill>
                <a:latin typeface="Aptos"/>
              </a:rPr>
              <a:t>D6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43600" y="2596896"/>
            <a:ext cx="594360" cy="0"/>
          </a:xfrm>
          <a:prstGeom prst="line">
            <a:avLst/>
          </a:prstGeom>
          <a:ln w="12700">
            <a:solidFill>
              <a:srgbClr val="2A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440680" y="2825496"/>
            <a:ext cx="502920" cy="228600"/>
          </a:xfrm>
          <a:prstGeom prst="roundRect">
            <a:avLst/>
          </a:prstGeom>
          <a:solidFill>
            <a:srgbClr val="192A48"/>
          </a:solidFill>
          <a:ln>
            <a:solidFill>
              <a:srgbClr val="2A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40680" y="2825496"/>
            <a:ext cx="502920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5F8FF"/>
                </a:solidFill>
                <a:latin typeface="Aptos"/>
              </a:rPr>
              <a:t>D5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43600" y="2935224"/>
            <a:ext cx="594360" cy="0"/>
          </a:xfrm>
          <a:prstGeom prst="line">
            <a:avLst/>
          </a:prstGeom>
          <a:ln w="12700">
            <a:solidFill>
              <a:srgbClr val="2A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440680" y="3163824"/>
            <a:ext cx="502920" cy="228600"/>
          </a:xfrm>
          <a:prstGeom prst="roundRect">
            <a:avLst/>
          </a:prstGeom>
          <a:solidFill>
            <a:srgbClr val="192A48"/>
          </a:solidFill>
          <a:ln>
            <a:solidFill>
              <a:srgbClr val="2A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40680" y="3163824"/>
            <a:ext cx="502920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5F8FF"/>
                </a:solidFill>
                <a:latin typeface="Aptos"/>
              </a:rPr>
              <a:t>D4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43600" y="3273552"/>
            <a:ext cx="594360" cy="0"/>
          </a:xfrm>
          <a:prstGeom prst="line">
            <a:avLst/>
          </a:prstGeom>
          <a:ln w="12700">
            <a:solidFill>
              <a:srgbClr val="2A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440680" y="3502152"/>
            <a:ext cx="502920" cy="228600"/>
          </a:xfrm>
          <a:prstGeom prst="roundRect">
            <a:avLst/>
          </a:prstGeom>
          <a:solidFill>
            <a:srgbClr val="192A48"/>
          </a:solidFill>
          <a:ln>
            <a:solidFill>
              <a:srgbClr val="2A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40680" y="3502152"/>
            <a:ext cx="502920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5F8FF"/>
                </a:solidFill>
                <a:latin typeface="Aptos"/>
              </a:rPr>
              <a:t>D3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943600" y="3611880"/>
            <a:ext cx="594360" cy="0"/>
          </a:xfrm>
          <a:prstGeom prst="line">
            <a:avLst/>
          </a:prstGeom>
          <a:ln w="12700">
            <a:solidFill>
              <a:srgbClr val="2A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440680" y="3840480"/>
            <a:ext cx="502920" cy="228600"/>
          </a:xfrm>
          <a:prstGeom prst="roundRect">
            <a:avLst/>
          </a:prstGeom>
          <a:solidFill>
            <a:srgbClr val="192A48"/>
          </a:solidFill>
          <a:ln>
            <a:solidFill>
              <a:srgbClr val="2A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40680" y="3840480"/>
            <a:ext cx="502920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5F8FF"/>
                </a:solidFill>
                <a:latin typeface="Aptos"/>
              </a:rPr>
              <a:t>D2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943600" y="3950208"/>
            <a:ext cx="594360" cy="0"/>
          </a:xfrm>
          <a:prstGeom prst="line">
            <a:avLst/>
          </a:prstGeom>
          <a:ln w="12700">
            <a:solidFill>
              <a:srgbClr val="2A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5440680" y="4178808"/>
            <a:ext cx="502920" cy="228600"/>
          </a:xfrm>
          <a:prstGeom prst="roundRect">
            <a:avLst/>
          </a:prstGeom>
          <a:solidFill>
            <a:srgbClr val="192A48"/>
          </a:solidFill>
          <a:ln>
            <a:solidFill>
              <a:srgbClr val="2A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40680" y="4178808"/>
            <a:ext cx="502920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5F8FF"/>
                </a:solidFill>
                <a:latin typeface="Aptos"/>
              </a:rPr>
              <a:t>D1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943600" y="4288536"/>
            <a:ext cx="594360" cy="0"/>
          </a:xfrm>
          <a:prstGeom prst="line">
            <a:avLst/>
          </a:prstGeom>
          <a:ln w="12700">
            <a:solidFill>
              <a:srgbClr val="2A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440680" y="4517136"/>
            <a:ext cx="502920" cy="228600"/>
          </a:xfrm>
          <a:prstGeom prst="roundRect">
            <a:avLst/>
          </a:prstGeom>
          <a:solidFill>
            <a:srgbClr val="192A48"/>
          </a:solidFill>
          <a:ln>
            <a:solidFill>
              <a:srgbClr val="2A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40680" y="4517136"/>
            <a:ext cx="502920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5F8FF"/>
                </a:solidFill>
                <a:latin typeface="Aptos"/>
              </a:rPr>
              <a:t>D0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943600" y="4626864"/>
            <a:ext cx="594360" cy="0"/>
          </a:xfrm>
          <a:prstGeom prst="line">
            <a:avLst/>
          </a:prstGeom>
          <a:ln w="12700">
            <a:solidFill>
              <a:srgbClr val="2A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6537960" y="2743200"/>
            <a:ext cx="1143000" cy="777240"/>
          </a:xfrm>
          <a:prstGeom prst="roundRect">
            <a:avLst/>
          </a:prstGeom>
          <a:solidFill>
            <a:srgbClr val="5284FF"/>
          </a:solidFill>
          <a:ln>
            <a:solidFill>
              <a:srgbClr val="52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0" y="2834640"/>
            <a:ext cx="1051560" cy="5943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AND / OR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680960" y="3127248"/>
            <a:ext cx="640080" cy="0"/>
          </a:xfrm>
          <a:prstGeom prst="line">
            <a:avLst/>
          </a:prstGeom>
          <a:ln w="19050">
            <a:solidFill>
              <a:srgbClr val="2A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8321040" y="2743200"/>
            <a:ext cx="1143000" cy="777240"/>
          </a:xfrm>
          <a:prstGeom prst="roundRect">
            <a:avLst/>
          </a:prstGeom>
          <a:solidFill>
            <a:srgbClr val="127985"/>
          </a:solidFill>
          <a:ln>
            <a:solidFill>
              <a:srgbClr val="127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66760" y="2834640"/>
            <a:ext cx="1051560" cy="5943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ENCODE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464040" y="3127248"/>
            <a:ext cx="594360" cy="0"/>
          </a:xfrm>
          <a:prstGeom prst="line">
            <a:avLst/>
          </a:prstGeom>
          <a:ln w="19050">
            <a:solidFill>
              <a:srgbClr val="2A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0058400" y="2606040"/>
            <a:ext cx="914400" cy="10972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54E0A4"/>
                </a:solidFill>
                <a:latin typeface="Aptos"/>
              </a:rPr>
              <a:t>Y₂
Y₁
Y₀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94960" y="5257800"/>
            <a:ext cx="5669280" cy="4572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AEBED8"/>
                </a:solidFill>
                <a:latin typeface="Aptos"/>
              </a:rPr>
              <a:t>Replace this guide with a screenshot of your actual Logisim circuit.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6172200"/>
            <a:ext cx="10698480" cy="2286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AEBED8"/>
                </a:solidFill>
                <a:latin typeface="Aptos"/>
              </a:rPr>
              <a:t>Working: higher-priority inputs mask lower inputs before the 3-bit output is generated.</a:t>
            </a:r>
          </a:p>
        </p:txBody>
      </p:sp>
    </p:spTree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12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24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36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48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60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72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84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9144000" cy="25603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ADAE2"/>
                </a:solidFill>
                <a:latin typeface="Aptos"/>
              </a:rPr>
              <a:t>04 • SIMULATION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064240" cy="56692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Input-output combinations and truth table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15568"/>
            <a:ext cx="11155680" cy="0"/>
          </a:xfrm>
          <a:prstGeom prst="line">
            <a:avLst/>
          </a:prstGeom>
          <a:ln w="15240">
            <a:solidFill>
              <a:srgbClr val="528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AEBED8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6675120" cy="3200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ADAE2"/>
                </a:solidFill>
                <a:latin typeface="Aptos"/>
              </a:rPr>
              <a:t>EXAMPLE TEST CASES (D₇ HAS THE HIGHEST PRIORITY)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64008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25880"/>
                <a:gridCol w="1417320"/>
                <a:gridCol w="914400"/>
              </a:tblGrid>
              <a:tr h="55517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ADAE2"/>
                          </a:solidFill>
                          <a:latin typeface="Aptos"/>
                        </a:defRPr>
                      </a:pPr>
                      <a:r>
                        <a:t>Inputs D₇…D₀</a:t>
                      </a:r>
                    </a:p>
                  </a:txBody>
                  <a:tcPr marL="45720" marR="36576">
                    <a:solidFill>
                      <a:srgbClr val="1D3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ADAE2"/>
                          </a:solidFill>
                          <a:latin typeface="Aptos"/>
                        </a:defRPr>
                      </a:pPr>
                      <a:r>
                        <a:t>Selected</a:t>
                      </a:r>
                    </a:p>
                  </a:txBody>
                  <a:tcPr marL="45720" marR="36576">
                    <a:solidFill>
                      <a:srgbClr val="1D3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ADAE2"/>
                          </a:solidFill>
                          <a:latin typeface="Aptos"/>
                        </a:defRPr>
                      </a:pPr>
                      <a:r>
                        <a:t>Output</a:t>
                      </a:r>
                    </a:p>
                  </a:txBody>
                  <a:tcPr marL="45720" marR="36576">
                    <a:solidFill>
                      <a:srgbClr val="1D3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ADAE2"/>
                          </a:solidFill>
                          <a:latin typeface="Aptos"/>
                        </a:defRPr>
                      </a:pPr>
                      <a:r>
                        <a:t>V</a:t>
                      </a:r>
                    </a:p>
                  </a:txBody>
                  <a:tcPr marL="45720" marR="36576">
                    <a:solidFill>
                      <a:srgbClr val="1D385B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8FF"/>
                          </a:solidFill>
                          <a:latin typeface="Aptos"/>
                        </a:defRPr>
                      </a:pPr>
                      <a:r>
                        <a:t>10000001</a:t>
                      </a:r>
                    </a:p>
                  </a:txBody>
                  <a:tcPr marL="45720" marR="36576">
                    <a:solidFill>
                      <a:srgbClr val="101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8FF"/>
                          </a:solidFill>
                          <a:latin typeface="Aptos"/>
                        </a:defRPr>
                      </a:pPr>
                      <a:r>
                        <a:t>D₇</a:t>
                      </a:r>
                    </a:p>
                  </a:txBody>
                  <a:tcPr marL="45720" marR="36576">
                    <a:solidFill>
                      <a:srgbClr val="101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8FF"/>
                          </a:solidFill>
                          <a:latin typeface="Aptos"/>
                        </a:defRPr>
                      </a:pPr>
                      <a:r>
                        <a:t>111</a:t>
                      </a:r>
                    </a:p>
                  </a:txBody>
                  <a:tcPr marL="45720" marR="36576">
                    <a:solidFill>
                      <a:srgbClr val="101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8F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45720" marR="36576">
                    <a:solidFill>
                      <a:srgbClr val="101F37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8FF"/>
                          </a:solidFill>
                          <a:latin typeface="Aptos"/>
                        </a:defRPr>
                      </a:pPr>
                      <a:r>
                        <a:t>01000100</a:t>
                      </a:r>
                    </a:p>
                  </a:txBody>
                  <a:tcPr marL="45720" marR="36576">
                    <a:solidFill>
                      <a:srgbClr val="1527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8FF"/>
                          </a:solidFill>
                          <a:latin typeface="Aptos"/>
                        </a:defRPr>
                      </a:pPr>
                      <a:r>
                        <a:t>D₆</a:t>
                      </a:r>
                    </a:p>
                  </a:txBody>
                  <a:tcPr marL="45720" marR="36576">
                    <a:solidFill>
                      <a:srgbClr val="1527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8FF"/>
                          </a:solidFill>
                          <a:latin typeface="Aptos"/>
                        </a:defRPr>
                      </a:pPr>
                      <a:r>
                        <a:t>110</a:t>
                      </a:r>
                    </a:p>
                  </a:txBody>
                  <a:tcPr marL="45720" marR="36576">
                    <a:solidFill>
                      <a:srgbClr val="1527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8F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45720" marR="36576">
                    <a:solidFill>
                      <a:srgbClr val="152743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8FF"/>
                          </a:solidFill>
                          <a:latin typeface="Aptos"/>
                        </a:defRPr>
                      </a:pPr>
                      <a:r>
                        <a:t>00100100</a:t>
                      </a:r>
                    </a:p>
                  </a:txBody>
                  <a:tcPr marL="45720" marR="36576">
                    <a:solidFill>
                      <a:srgbClr val="101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8FF"/>
                          </a:solidFill>
                          <a:latin typeface="Aptos"/>
                        </a:defRPr>
                      </a:pPr>
                      <a:r>
                        <a:t>D₅</a:t>
                      </a:r>
                    </a:p>
                  </a:txBody>
                  <a:tcPr marL="45720" marR="36576">
                    <a:solidFill>
                      <a:srgbClr val="101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8FF"/>
                          </a:solidFill>
                          <a:latin typeface="Aptos"/>
                        </a:defRPr>
                      </a:pPr>
                      <a:r>
                        <a:t>101</a:t>
                      </a:r>
                    </a:p>
                  </a:txBody>
                  <a:tcPr marL="45720" marR="36576">
                    <a:solidFill>
                      <a:srgbClr val="101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8F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45720" marR="36576">
                    <a:solidFill>
                      <a:srgbClr val="101F37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8FF"/>
                          </a:solidFill>
                          <a:latin typeface="Aptos"/>
                        </a:defRPr>
                      </a:pPr>
                      <a:r>
                        <a:t>00001010</a:t>
                      </a:r>
                    </a:p>
                  </a:txBody>
                  <a:tcPr marL="45720" marR="36576">
                    <a:solidFill>
                      <a:srgbClr val="1527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8FF"/>
                          </a:solidFill>
                          <a:latin typeface="Aptos"/>
                        </a:defRPr>
                      </a:pPr>
                      <a:r>
                        <a:t>D₃</a:t>
                      </a:r>
                    </a:p>
                  </a:txBody>
                  <a:tcPr marL="45720" marR="36576">
                    <a:solidFill>
                      <a:srgbClr val="1527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8FF"/>
                          </a:solidFill>
                          <a:latin typeface="Aptos"/>
                        </a:defRPr>
                      </a:pPr>
                      <a:r>
                        <a:t>011</a:t>
                      </a:r>
                    </a:p>
                  </a:txBody>
                  <a:tcPr marL="45720" marR="36576">
                    <a:solidFill>
                      <a:srgbClr val="1527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8F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45720" marR="36576">
                    <a:solidFill>
                      <a:srgbClr val="152743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8FF"/>
                          </a:solidFill>
                          <a:latin typeface="Aptos"/>
                        </a:defRPr>
                      </a:pPr>
                      <a:r>
                        <a:t>00000001</a:t>
                      </a:r>
                    </a:p>
                  </a:txBody>
                  <a:tcPr marL="45720" marR="36576">
                    <a:solidFill>
                      <a:srgbClr val="101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8FF"/>
                          </a:solidFill>
                          <a:latin typeface="Aptos"/>
                        </a:defRPr>
                      </a:pPr>
                      <a:r>
                        <a:t>D₀</a:t>
                      </a:r>
                    </a:p>
                  </a:txBody>
                  <a:tcPr marL="45720" marR="36576">
                    <a:solidFill>
                      <a:srgbClr val="101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8FF"/>
                          </a:solidFill>
                          <a:latin typeface="Aptos"/>
                        </a:defRPr>
                      </a:pPr>
                      <a:r>
                        <a:t>000</a:t>
                      </a:r>
                    </a:p>
                  </a:txBody>
                  <a:tcPr marL="45720" marR="36576">
                    <a:solidFill>
                      <a:srgbClr val="101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8F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45720" marR="36576">
                    <a:solidFill>
                      <a:srgbClr val="101F37"/>
                    </a:solidFill>
                  </a:tcPr>
                </a:tc>
              </a:tr>
              <a:tr h="555174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8FF"/>
                          </a:solidFill>
                          <a:latin typeface="Aptos"/>
                        </a:defRPr>
                      </a:pPr>
                      <a:r>
                        <a:t>00000000</a:t>
                      </a:r>
                    </a:p>
                  </a:txBody>
                  <a:tcPr marL="45720" marR="36576">
                    <a:solidFill>
                      <a:srgbClr val="1527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8FF"/>
                          </a:solidFill>
                          <a:latin typeface="Aptos"/>
                        </a:defRPr>
                      </a:pPr>
                      <a:r>
                        <a:t>None</a:t>
                      </a:r>
                    </a:p>
                  </a:txBody>
                  <a:tcPr marL="45720" marR="36576">
                    <a:solidFill>
                      <a:srgbClr val="1527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8FF"/>
                          </a:solidFill>
                          <a:latin typeface="Aptos"/>
                        </a:defRPr>
                      </a:pPr>
                      <a:r>
                        <a:t>000</a:t>
                      </a:r>
                    </a:p>
                  </a:txBody>
                  <a:tcPr marL="45720" marR="36576">
                    <a:solidFill>
                      <a:srgbClr val="1527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8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45720" marR="36576">
                    <a:solidFill>
                      <a:srgbClr val="152743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737360"/>
            <a:ext cx="3840480" cy="3886200"/>
          </a:xfrm>
          <a:prstGeom prst="roundRect">
            <a:avLst/>
          </a:prstGeom>
          <a:solidFill>
            <a:srgbClr val="121F3B"/>
          </a:solidFill>
          <a:ln>
            <a:solidFill>
              <a:srgbClr val="12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011680"/>
            <a:ext cx="3200400" cy="3200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C352"/>
                </a:solidFill>
                <a:latin typeface="Aptos"/>
              </a:rPr>
              <a:t>ANIMATED EXAMPLE</a:t>
            </a:r>
          </a:p>
        </p:txBody>
      </p:sp>
      <p:pic>
        <p:nvPicPr>
          <p:cNvPr id="10" name="Picture 9" descr="priority_encoder_animatio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552" y="2514600"/>
            <a:ext cx="3429000" cy="1600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55279" y="4343400"/>
            <a:ext cx="3200400" cy="7315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When D₆ and D₃ are HIGH, D₆ wins.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5074920"/>
            <a:ext cx="3200400" cy="3657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54E0A4"/>
                </a:solidFill>
                <a:latin typeface="Aptos"/>
              </a:rPr>
              <a:t>Output = 110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89320"/>
            <a:ext cx="10607040" cy="2743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AEBED8"/>
                </a:solidFill>
                <a:latin typeface="Aptos"/>
              </a:rPr>
              <a:t>V = 1 means at least one input is active. Capture your own Logisim tests for final submission.</a:t>
            </a:r>
          </a:p>
        </p:txBody>
      </p:sp>
    </p:spTree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12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24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36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48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60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72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84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9144000" cy="25603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ADAE2"/>
                </a:solidFill>
                <a:latin typeface="Aptos"/>
              </a:rPr>
              <a:t>05 • CONCLUSION AND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064240" cy="56692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Outcome, uses, and possible improvements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15568"/>
            <a:ext cx="11155680" cy="0"/>
          </a:xfrm>
          <a:prstGeom prst="line">
            <a:avLst/>
          </a:prstGeom>
          <a:ln w="15240">
            <a:solidFill>
              <a:srgbClr val="528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AEBED8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166360" cy="1143000"/>
          </a:xfrm>
          <a:prstGeom prst="roundRect">
            <a:avLst/>
          </a:prstGeom>
          <a:solidFill>
            <a:srgbClr val="121F3B"/>
          </a:solidFill>
          <a:ln>
            <a:solidFill>
              <a:srgbClr val="2A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554480"/>
            <a:ext cx="1965960" cy="310896"/>
          </a:xfrm>
          <a:prstGeom prst="roundRect">
            <a:avLst/>
          </a:prstGeom>
          <a:solidFill>
            <a:srgbClr val="2ADAE2"/>
          </a:solidFill>
          <a:ln>
            <a:solidFill>
              <a:srgbClr val="2A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559051"/>
            <a:ext cx="1892807" cy="2926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A1226"/>
                </a:solidFill>
                <a:latin typeface="Aptos"/>
              </a:rPr>
              <a:t>CPU INTERRUPTS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47672"/>
            <a:ext cx="4572000" cy="4114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Select the most urgent processor request.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166360" cy="1143000"/>
          </a:xfrm>
          <a:prstGeom prst="roundRect">
            <a:avLst/>
          </a:prstGeom>
          <a:solidFill>
            <a:srgbClr val="121F3B"/>
          </a:solidFill>
          <a:ln>
            <a:solidFill>
              <a:srgbClr val="52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1554480"/>
            <a:ext cx="1965960" cy="310896"/>
          </a:xfrm>
          <a:prstGeom prst="roundRect">
            <a:avLst/>
          </a:prstGeom>
          <a:solidFill>
            <a:srgbClr val="5284FF"/>
          </a:solidFill>
          <a:ln>
            <a:solidFill>
              <a:srgbClr val="52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1559051"/>
            <a:ext cx="1892807" cy="2926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A1226"/>
                </a:solidFill>
                <a:latin typeface="Aptos"/>
              </a:rPr>
              <a:t>BUS ARBITRATION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1947672"/>
            <a:ext cx="4572000" cy="4114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Choose among devices sharing a bus.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26080"/>
            <a:ext cx="5166360" cy="1143000"/>
          </a:xfrm>
          <a:prstGeom prst="roundRect">
            <a:avLst/>
          </a:prstGeom>
          <a:solidFill>
            <a:srgbClr val="121F3B"/>
          </a:solidFill>
          <a:ln>
            <a:solidFill>
              <a:srgbClr val="FFC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3063240"/>
            <a:ext cx="1965960" cy="310896"/>
          </a:xfrm>
          <a:prstGeom prst="roundRect">
            <a:avLst/>
          </a:prstGeom>
          <a:solidFill>
            <a:srgbClr val="FFC352"/>
          </a:solidFill>
          <a:ln>
            <a:solidFill>
              <a:srgbClr val="FFC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067812"/>
            <a:ext cx="1892807" cy="2926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A1226"/>
                </a:solidFill>
                <a:latin typeface="Aptos"/>
              </a:rPr>
              <a:t>CONTROL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456432"/>
            <a:ext cx="4572000" cy="4114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Give precedence to critical signals.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926080"/>
            <a:ext cx="5166360" cy="1143000"/>
          </a:xfrm>
          <a:prstGeom prst="roundRect">
            <a:avLst/>
          </a:prstGeom>
          <a:solidFill>
            <a:srgbClr val="121F3B"/>
          </a:solidFill>
          <a:ln>
            <a:solidFill>
              <a:srgbClr val="54E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92240" y="3063240"/>
            <a:ext cx="1965960" cy="310896"/>
          </a:xfrm>
          <a:prstGeom prst="roundRect">
            <a:avLst/>
          </a:prstGeom>
          <a:solidFill>
            <a:srgbClr val="54E0A4"/>
          </a:solidFill>
          <a:ln>
            <a:solidFill>
              <a:srgbClr val="54E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28816" y="3067812"/>
            <a:ext cx="1892807" cy="2926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0A1226"/>
                </a:solidFill>
                <a:latin typeface="Aptos"/>
              </a:rPr>
              <a:t>DIGITAL SYSTEMS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3456432"/>
            <a:ext cx="4572000" cy="4114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Encode selected requests into binary.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709160"/>
            <a:ext cx="10744200" cy="777240"/>
          </a:xfrm>
          <a:prstGeom prst="roundRect">
            <a:avLst/>
          </a:prstGeom>
          <a:solidFill>
            <a:srgbClr val="112A44"/>
          </a:solidFill>
          <a:ln>
            <a:solidFill>
              <a:srgbClr val="2A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46320"/>
            <a:ext cx="10241280" cy="5029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5F8FF"/>
                </a:solidFill>
                <a:latin typeface="Aptos"/>
              </a:rPr>
              <a:t>Conclusion: 8 inputs are encoded into 3 bits representing the highest-priority active input.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669280"/>
            <a:ext cx="10424160" cy="4114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AEBED8"/>
                </a:solidFill>
                <a:latin typeface="Aptos"/>
              </a:rPr>
              <a:t>Possible improvements: add a Valid output, test all priority cases, and extend to more inputs.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080760"/>
            <a:ext cx="10424160" cy="2743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2ADAE2"/>
                </a:solidFill>
                <a:latin typeface="Aptos"/>
              </a:rPr>
              <a:t>THANK YOU</a:t>
            </a:r>
          </a:p>
        </p:txBody>
      </p:sp>
    </p:spTree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12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24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36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48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60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72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  <p:timing>
      <p:tnLst>
        <p:par>
          <p:cTn id="1" dur="indefinite" restart="never" nodeType="tmRoot">
            <p:childTnLst>
              <p:par>
                <p:cTn id="2" fill="hold">
                  <p:stCondLst>
                    <p:cond delay="840"/>
                  </p:stCondLst>
                  <p:childTnLst>
                    <p:set>
                      <p:cBhvr>
                        <p:cTn id="3" dur="1" fill="hold"/>
                        <p:tgtEl>
                          <p:spTgt spid="None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childTnLst>
          </p:cTn>
        </p:par>
      </p:tnL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